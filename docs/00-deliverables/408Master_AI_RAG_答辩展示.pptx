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f2f1d84d6458c" /><Relationship Type="http://schemas.openxmlformats.org/officeDocument/2006/relationships/extended-properties" Target="/docProps/app.xml" Id="R895d28ac54ed4b85" /><Relationship Type="http://schemas.openxmlformats.org/officeDocument/2006/relationships/officeDocument" Target="/ppt/presentation.xml" Id="R7dba9d608a26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532f2a41b74f61"/>
  </p:sldMasterIdLst>
  <p:notesMasterIdLst>
    <p:notesMasterId xmlns:r="http://schemas.openxmlformats.org/officeDocument/2006/relationships" r:id="R2a85ac98467444f0"/>
  </p:notesMasterIdLst>
  <p:sldIdLst>
    <p:sldId xmlns:r="http://schemas.openxmlformats.org/officeDocument/2006/relationships" id="256" r:id="R28149fcb50b64700"/>
    <p:sldId xmlns:r="http://schemas.openxmlformats.org/officeDocument/2006/relationships" id="257" r:id="Rf308494c26554bcd"/>
    <p:sldId xmlns:r="http://schemas.openxmlformats.org/officeDocument/2006/relationships" id="258" r:id="R0f70556bb4a147c6"/>
    <p:sldId xmlns:r="http://schemas.openxmlformats.org/officeDocument/2006/relationships" id="259" r:id="R382de9445f2e45e4"/>
    <p:sldId xmlns:r="http://schemas.openxmlformats.org/officeDocument/2006/relationships" id="260" r:id="R85f72292b71f41f9"/>
    <p:sldId xmlns:r="http://schemas.openxmlformats.org/officeDocument/2006/relationships" id="261" r:id="Rd375c853e0b94c06"/>
    <p:sldId xmlns:r="http://schemas.openxmlformats.org/officeDocument/2006/relationships" id="262" r:id="Ra7068e74ef154de4"/>
    <p:sldId xmlns:r="http://schemas.openxmlformats.org/officeDocument/2006/relationships" id="263" r:id="Ra01a4e8737064830"/>
    <p:sldId xmlns:r="http://schemas.openxmlformats.org/officeDocument/2006/relationships" id="264" r:id="Rc13df3731ad24034"/>
    <p:sldId xmlns:r="http://schemas.openxmlformats.org/officeDocument/2006/relationships" id="265" r:id="R2f49b4872dca42cd"/>
    <p:sldId xmlns:r="http://schemas.openxmlformats.org/officeDocument/2006/relationships" id="266" r:id="Rb0e6aa1c66424fc1"/>
    <p:sldId xmlns:r="http://schemas.openxmlformats.org/officeDocument/2006/relationships" id="267" r:id="R7614f249bf5048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32f2a41b74f61" /><Relationship Type="http://schemas.openxmlformats.org/officeDocument/2006/relationships/theme" Target="/ppt/theme/theme1.xml" Id="Raaf295ee00894327" /><Relationship Type="http://schemas.openxmlformats.org/officeDocument/2006/relationships/notesMaster" Target="/ppt/notesMasters/notesMaster1.xml" Id="R2a85ac98467444f0" /><Relationship Type="http://schemas.openxmlformats.org/officeDocument/2006/relationships/presProps" Target="/ppt/presProps.xml" Id="R89f20675d70543f4" /><Relationship Type="http://schemas.openxmlformats.org/officeDocument/2006/relationships/viewProps" Target="/ppt/viewProps.xml" Id="R6a6e63f4c6c64528" /><Relationship Type="http://schemas.openxmlformats.org/officeDocument/2006/relationships/tableStyles" Target="/ppt/tableStyles.xml" Id="Rf2dda3110f044bb7" /><Relationship Type="http://schemas.openxmlformats.org/officeDocument/2006/relationships/slide" Target="/ppt/slides/slide1.xml" Id="R28149fcb50b64700" /><Relationship Type="http://schemas.openxmlformats.org/officeDocument/2006/relationships/slide" Target="/ppt/slides/slide2.xml" Id="Rf308494c26554bcd" /><Relationship Type="http://schemas.openxmlformats.org/officeDocument/2006/relationships/slide" Target="/ppt/slides/slide3.xml" Id="R0f70556bb4a147c6" /><Relationship Type="http://schemas.openxmlformats.org/officeDocument/2006/relationships/slide" Target="/ppt/slides/slide4.xml" Id="R382de9445f2e45e4" /><Relationship Type="http://schemas.openxmlformats.org/officeDocument/2006/relationships/slide" Target="/ppt/slides/slide5.xml" Id="R85f72292b71f41f9" /><Relationship Type="http://schemas.openxmlformats.org/officeDocument/2006/relationships/slide" Target="/ppt/slides/slide6.xml" Id="Rd375c853e0b94c06" /><Relationship Type="http://schemas.openxmlformats.org/officeDocument/2006/relationships/slide" Target="/ppt/slides/slide7.xml" Id="Ra7068e74ef154de4" /><Relationship Type="http://schemas.openxmlformats.org/officeDocument/2006/relationships/slide" Target="/ppt/slides/slide8.xml" Id="Ra01a4e8737064830" /><Relationship Type="http://schemas.openxmlformats.org/officeDocument/2006/relationships/slide" Target="/ppt/slides/slide9.xml" Id="Rc13df3731ad24034" /><Relationship Type="http://schemas.openxmlformats.org/officeDocument/2006/relationships/slide" Target="/ppt/slides/slide10.xml" Id="R2f49b4872dca42cd" /><Relationship Type="http://schemas.openxmlformats.org/officeDocument/2006/relationships/slide" Target="/ppt/slides/slide11.xml" Id="Rb0e6aa1c66424fc1" /><Relationship Type="http://schemas.openxmlformats.org/officeDocument/2006/relationships/slide" Target="/ppt/slides/slide12.xml" Id="R7614f249bf5048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5d6ea1db3c8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188b6888374abc" /><Relationship Type="http://schemas.openxmlformats.org/officeDocument/2006/relationships/notesMaster" Target="/ppt/notesMasters/notesMaster1.xml" Id="Re0ffb3e4503b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beeb07984d4647" /><Relationship Type="http://schemas.openxmlformats.org/officeDocument/2006/relationships/notesMaster" Target="/ppt/notesMasters/notesMaster1.xml" Id="R658aad33c04043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a5d68b13048f6" /><Relationship Type="http://schemas.openxmlformats.org/officeDocument/2006/relationships/notesMaster" Target="/ppt/notesMasters/notesMaster1.xml" Id="Re66abf115d4c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7c9224dd744c5" /><Relationship Type="http://schemas.openxmlformats.org/officeDocument/2006/relationships/notesMaster" Target="/ppt/notesMasters/notesMaster1.xml" Id="R95665df96507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044f316554ed3" /><Relationship Type="http://schemas.openxmlformats.org/officeDocument/2006/relationships/notesMaster" Target="/ppt/notesMasters/notesMaster1.xml" Id="R927a6fefd3cf4e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92e74c6168493e" /><Relationship Type="http://schemas.openxmlformats.org/officeDocument/2006/relationships/notesMaster" Target="/ppt/notesMasters/notesMaster1.xml" Id="R10fa1c65aa2d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171a384fe4d37" /><Relationship Type="http://schemas.openxmlformats.org/officeDocument/2006/relationships/notesMaster" Target="/ppt/notesMasters/notesMaster1.xml" Id="R536e4a6c9ff5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803f35d9da437e" /><Relationship Type="http://schemas.openxmlformats.org/officeDocument/2006/relationships/notesMaster" Target="/ppt/notesMasters/notesMaster1.xml" Id="Rdee46b6f9adb42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673e01838142ba" /><Relationship Type="http://schemas.openxmlformats.org/officeDocument/2006/relationships/notesMaster" Target="/ppt/notesMasters/notesMaster1.xml" Id="R79478d6a0a634b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94232b230e4199" /><Relationship Type="http://schemas.openxmlformats.org/officeDocument/2006/relationships/notesMaster" Target="/ppt/notesMasters/notesMaster1.xml" Id="R9f5c7de220c04c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fb297495394b79" /><Relationship Type="http://schemas.openxmlformats.org/officeDocument/2006/relationships/notesMaster" Target="/ppt/notesMasters/notesMaster1.xml" Id="Rc786bb61c8a040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8f04c7958442e0" /><Relationship Type="http://schemas.openxmlformats.org/officeDocument/2006/relationships/notesMaster" Target="/ppt/notesMasters/notesMaster1.xml" Id="Rc6f72d3fd5d04e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ce8aff69e449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e209161e5b4300" /><Relationship Type="http://schemas.openxmlformats.org/officeDocument/2006/relationships/slideLayout" Target="/ppt/slideLayouts/slideLayout2.xml" Id="R6cff707a19c44d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f707a19c4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85d63b1ceb4049" /><Relationship Type="http://schemas.openxmlformats.org/officeDocument/2006/relationships/notesSlide" Target="/ppt/notesSlides/notesSlide1.xml" Id="Re167cef5f7db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feed1696d42f8" /><Relationship Type="http://schemas.openxmlformats.org/officeDocument/2006/relationships/notesSlide" Target="/ppt/notesSlides/notesSlide2.xml" Id="R2a57dde3e45a42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b8666c4e3472d" /><Relationship Type="http://schemas.openxmlformats.org/officeDocument/2006/relationships/notesSlide" Target="/ppt/notesSlides/notesSlide3.xml" Id="Rde7428f69a07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c15ba52edf487b" /><Relationship Type="http://schemas.openxmlformats.org/officeDocument/2006/relationships/notesSlide" Target="/ppt/notesSlides/notesSlide4.xml" Id="R72396e74c0464d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fbe36d5854daa" /><Relationship Type="http://schemas.openxmlformats.org/officeDocument/2006/relationships/notesSlide" Target="/ppt/notesSlides/notesSlide5.xml" Id="R3a77edcb885444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3395ef03f410f" /><Relationship Type="http://schemas.openxmlformats.org/officeDocument/2006/relationships/notesSlide" Target="/ppt/notesSlides/notesSlide6.xml" Id="Rd9bd200ec45f40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d5452785ca4e6d" /><Relationship Type="http://schemas.openxmlformats.org/officeDocument/2006/relationships/notesSlide" Target="/ppt/notesSlides/notesSlide7.xml" Id="R24474dfe384242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670d8bfc349bf" /><Relationship Type="http://schemas.openxmlformats.org/officeDocument/2006/relationships/notesSlide" Target="/ppt/notesSlides/notesSlide8.xml" Id="R18a16b49b7664e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95c7c724e4b1d" /><Relationship Type="http://schemas.openxmlformats.org/officeDocument/2006/relationships/notesSlide" Target="/ppt/notesSlides/notesSlide9.xml" Id="Ra0b6fd07faad4c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add71e6196438e" /><Relationship Type="http://schemas.openxmlformats.org/officeDocument/2006/relationships/notesSlide" Target="/ppt/notesSlides/notesSlide10.xml" Id="R97d0e7f1844c47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2e8b4e39549a7" /><Relationship Type="http://schemas.openxmlformats.org/officeDocument/2006/relationships/notesSlide" Target="/ppt/notesSlides/notesSlide11.xml" Id="R7dfc27be32ba44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22fa279624cd7" /><Relationship Type="http://schemas.openxmlformats.org/officeDocument/2006/relationships/notesSlide" Target="/ppt/notesSlides/notesSlide12.xml" Id="R607592c2d35b40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1110A-A9F3-4E6F-8544-CA5067D8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0B3BB-4ACB-4DCA-880B-9257DC91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36D57-DBDA-4CF6-BDBA-A0C4C8C2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PROJECT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5424B-FD89-4526-800E-9358F6A4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408Master：从题库到智能导师的学习闭环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6E9AE-D14B-4B11-AAC8-2EA82F27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分支核心：RAG 约束答案，Skill 改变讲法，Agent 记住学生。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613EB-3559-46C0-87D9-CB260DF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DEABA-91CB-45A7-AD3A-447955BC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RAG · Skill ·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E0522-06A5-4584-8A95-C325BFD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不是给题库“接一个聊天框”，而是让 AI 被知识库约束、被学习记录校准、被学生反馈持续修正。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6059B-0C14-406B-8C74-91D818C9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F12BC-BE7D-418E-91B2-0978409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408 知识页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4B4F1-D259-4916-BAF8-E2056DB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95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DC486-5161-499A-87BC-5F8A52DE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71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讲解视角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2AE14-6E34-4B91-889A-508A658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FFBA6-7C49-454A-80B1-8B51794B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学习档案表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B1C68-4C18-471F-BB5B-A6F058DF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A580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580C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17682-3225-4822-AE2A-AFECABD1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真题图片资产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E7E5C-E1D7-4D69-BBC9-8BDF903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38EDF-D775-4358-8258-5F6D550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基于 codex/ai-knowledge-rag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C71CA-52DB-4247-9484-1DDCD1E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E42C5-2E07-492F-B660-6E679E18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911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适合项目答辩 / 技术展示</a:t>
            </a:r>
          </a:p>
        </p:txBody>
      </p:sp>
    </p:spTree>
    <p:extLst>
      <p:ext uri="{BB962C8B-B14F-4D97-AF65-F5344CB8AC3E}">
        <p14:creationId xmlns:p14="http://schemas.microsoft.com/office/powerpoint/2010/main" val="18935898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2E3866-40B7-4806-A3D1-6E0E132F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D520A-DBAD-4709-A520-368EFF37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ED719-4C8D-4095-88D8-AE691E26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WHY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A024-4002-4E5A-B204-9D50195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普通题库接入裸 AI，会把四个问题放大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25385-3612-4E13-BE42-A1E73FA6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设计目标：先把 AI 关进可信知识边界，再让它变得个性化。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DCA5D-98A5-4777-B872-4E2EE42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28065-2C2F-45D5-B333-04B03D8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A870E-9039-455F-A036-4033041B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070B2-EF84-4630-AAC3-32754E21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幻觉风险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2C2B1-555A-49D3-9F7F-C2DE9609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模型可能编出不存在的考点，学生难以判断真假。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FBD01-B244-46D0-89DD-540B057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EDD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EDD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FDE4C-448C-4A52-9326-4E8E7F0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DC004-7C63-4F6B-A277-B9FA8C4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6A337-42B7-4EC5-83B7-1D7B82E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讲法单一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A8866-000E-4E36-A497-C3C5AFFE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标准解析只回答“是什么”，无法适配基础差异。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6C1AD-308D-491F-80C5-C0BEF46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DE9F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DE9F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5ABB2-F322-4619-8AF4-CC5541AE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81886-8363-438E-95C2-7DA2EA55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68A6A-BDF6-4113-9B70-63593105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过程不可见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7E427-7BAA-4D2E-9200-1075B379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系统不知道学生看过什么、错过什么、喜欢哪种讲法。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B9F87-7377-43B1-98C7-10D143F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BEAF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BEAF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5CB6E-42C8-411E-8BA6-AAEA795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817A4-F058-4E82-838C-B19B6AFD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1466D-1D97-4714-9C6A-07E0A63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知识库薄弱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D15BA-A78B-4FDF-882F-C638923C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没有高质量知识点和图片资产，RAG 只是空架子。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43E43-D02C-4477-B8A0-61DD8DF6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FAE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1FAE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7892A-5E3D-40EF-AC1D-099923E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861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因此，本分支先做知识库、RAG、Skill、Agent 的底座，而不是继续堆界面效果。</a:t>
            </a:r>
          </a:p>
        </p:txBody>
      </p:sp>
    </p:spTree>
    <p:extLst>
      <p:ext uri="{BB962C8B-B14F-4D97-AF65-F5344CB8AC3E}">
        <p14:creationId xmlns:p14="http://schemas.microsoft.com/office/powerpoint/2010/main" val="18806231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6F31AB-C528-4B47-B9C9-C8E47343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273D7-DE90-4597-AFD8-DCB023C5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45AE4-8EDC-4A24-9AE0-94E47385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PRODUCT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05145-E487-46CD-BD3B-3679DDE2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核心闭环：可信资料进入回答，学生反馈反过来修饰回答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E05A7-2360-4171-9CDA-F4892725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同一道题不只“答一次”，而是进入持续学习过程。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D3EF2-8339-49D4-8EAA-D9757B37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A03F1-C9FB-4E27-9B15-08F30609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E3DC8-B73A-4C13-A24E-5F71011F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408 知识库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真题 / 知识点 / 方法论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E3B61-55E5-46D3-A4EB-152DCD60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289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C6CC3-F152-4451-BBEC-402E060F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622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D36F8-0FE3-4709-93CE-B20A010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CE8B3-E913-4A27-9BB8-0D50887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RAG 检索</a:t>
            </a:r>
          </a:p>
          <a:p xmlns:a="http://schemas.openxmlformats.org/drawingml/2006/main">
            <a:pPr algn="ctr">
              <a:defRPr sz="1275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引用证据 + 关键词兜底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B0D93-2407-4AFF-A534-F66728E3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289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1C15F-4AC9-490D-A9C3-CA7884B8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622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53BCB-68D4-4BF4-B75A-1C4C089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8081A-4BC4-4F6F-935E-263C3426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四种 Skill</a:t>
            </a:r>
          </a:p>
          <a:p xmlns:a="http://schemas.openxmlformats.org/drawingml/2006/main">
            <a:pPr algn="ctr">
              <a:defRPr sz="12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常规 / 费曼 / 第一性 / 对话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ECB7E-73DF-4E7D-AF64-E8944823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194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BFE2B-FF13-409D-945C-08D2BC94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29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CA799-605B-4927-A4EC-010A06F5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291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6D74C-28B2-4BD8-A2A8-366FF6B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05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学生 Agent</a:t>
            </a:r>
          </a:p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事件 / 画像 / 反馈偏好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D98EF-CB8D-41B6-A9BD-F054C03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62500"/>
            <a:ext cx="-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AA656-F4D4-40DD-8846-DCDABC34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439BC-86C9-4F86-9C6C-EA4160E5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5BD52-D97A-445A-889E-F48BC77B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下一次解析</a:t>
            </a:r>
          </a:p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带上 profile 与 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B234A-7653-4AD1-9DC5-2E800DD4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-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39194-4C06-4BCB-8598-8F65AE93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812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106EA-F6D5-4460-8CB8-83767E44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524000"/>
            <a:ext cx="800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5388E6-2B5A-4696-8EE1-163E587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2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可信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C62E2-53AC-4C30-BAC4-EBECCE51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7877F-E7D1-4D63-97CD-1DE1F457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621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可解释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91D49-79A9-40DE-851D-8D90845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4C77E-93FB-4F66-8EF0-A9C0056C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可适配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858B8-C0E1-4A38-B8E7-EE303B83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007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DD899-C176-4C7E-9D7B-C6D7EEE6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388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可持续</a:t>
            </a:r>
          </a:p>
        </p:txBody>
      </p:sp>
    </p:spTree>
    <p:extLst>
      <p:ext uri="{BB962C8B-B14F-4D97-AF65-F5344CB8AC3E}">
        <p14:creationId xmlns:p14="http://schemas.microsoft.com/office/powerpoint/2010/main" val="109953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2D8DC-B616-4297-987D-018650BF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C2CDC-EE6C-42C1-B928-B527433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7A309-4634-491E-BBCA-D151A432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B97A9-2D1F-45C8-9999-53565F5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系统分层：数据、检索、讲解、记忆、体验各自负责一件事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7FFD-479F-489A-998C-5313C5E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边界清楚之后，后续扩展 embedding、爬虫和画像都不会冲击主流程。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FB47F-D929-45E7-AFA7-655144DC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203A9-72C8-4E89-A2E6-F1A1636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1BE66-69F1-4DF3-80FA-BA65CF26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前端体验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14C56-3816-4025-8185-981D0F92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52575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试卷中心 / AI 解析 / 知识图谱 / 管理端调试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882DB-DA35-4002-9128-D2351FE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33A67-4A3E-46E5-BD16-F55E1642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F6162-01F6-43B7-8800-357D3378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FB88B-F2DE-4F1A-B9CF-6DE0D13D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90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讲解层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217FF-3AD0-465C-BF32-16B1ACA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71725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AIAnalysisController + Prompt 模板 + 四种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DA3AC-E412-4100-B9D3-877FED0C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1160E-F28E-432F-B877-14EFC54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622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1DA4A-5696-42E0-B6A0-31F7E43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6B823-19F1-4A11-A9AC-816FF4D1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9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检索层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D0A36-7F75-49D9-887B-ECB74042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RagService：AI 知识库向量候选 + 旧向量兼容 + 关键词兜底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46131-B76D-46FC-8B20-C89EB0E5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444C6-ED9B-48A9-A22E-F6E66938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814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F3410-4336-448B-8C6E-367687DE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2EC6D-486C-495A-86A6-63C491CF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290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记忆层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CE3C9-7C25-4F4F-950B-7AAC6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0025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学习事件、学生画像、Skill 反馈、usageLogId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B6BA8-A35B-48A4-88FA-A9B2AC2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11698-EA4C-416E-B06A-1BA4A93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00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067C3-6338-49B8-81B5-2071E96A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C7288-5B53-4891-8CE3-839E33E0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48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数据层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853F6-C664-4E1E-AE60-F3EA0BE2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真题、知识点、方法论摘要、图片资产、crawler/data</a:t>
            </a:r>
          </a:p>
        </p:txBody>
      </p:sp>
    </p:spTree>
    <p:extLst>
      <p:ext uri="{BB962C8B-B14F-4D97-AF65-F5344CB8AC3E}">
        <p14:creationId xmlns:p14="http://schemas.microsoft.com/office/powerpoint/2010/main" val="12129826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28E21-3153-4C59-9353-065BE72F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27AB4-9339-4119-81AD-0090EC9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68F98-EE29-40ED-A3C2-EADF2286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KNOWLEDGE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8809B-D3A8-429B-80AD-7F67128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爬虫已经把 408 四科知识点变成可检索资产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1CAB7-217B-4EBD-B824-4254A85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当前第一版数据来自 CSGraduates 公开知识页，后续可以继续增量扩展。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3ACF1-E5F0-4876-A875-793F7E93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4ECCE-2D85-4CB2-819A-2080A0AA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87656-66B4-48CB-A526-59B0040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计算机网络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61A9E-F42F-4B5F-BB8D-A6CEA5E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CF960-5069-4B5C-AF65-89FCEFB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数据结构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F7C33-4326-4783-8230-BC91C1B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7F1FA-C6A3-45A5-80FE-23D1074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组成原理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FE242-05F6-46A3-94A3-C9390E0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A580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580C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7C2A0-20D5-4E8C-B95C-17A46ED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操作系统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063EB-9F54-458F-8573-B6A82534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5E99C-39A0-4368-A29D-EA89307C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crawler/knowledge_crawler.py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C91D2-6978-4298-B28C-99BA00F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抓取、清洗、写入知识点与 AI 知识库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AE179-2CDB-4480-869D-A535F90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50B40-F4C1-42CD-A58B-F711ED25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crawler/data/knowledge_pages.json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C5B4C-D4DD-488F-BCC5-A18D7669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116 个结构化知识页，可复现导入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2F54D-D3D4-41E4-81E6-57BB729F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1EB29-BA21-4C77-ABAE-AA14A657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database/06_ai_knowledge_rag.sql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7F8CE-3287-43B8-AB36-B710136E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扩展 embedding、chunk、hash、画像和反馈表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00365-E57E-4195-9380-B5D4825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E1B71-F4AF-497D-9CD0-4FBA22C2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method_summary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A1A72-BB95-4E5A-B14B-44B4DCC6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费曼、第一性原理、柏拉图式对话摘要进入知识库</a:t>
            </a:r>
          </a:p>
        </p:txBody>
      </p:sp>
    </p:spTree>
    <p:extLst>
      <p:ext uri="{BB962C8B-B14F-4D97-AF65-F5344CB8AC3E}">
        <p14:creationId xmlns:p14="http://schemas.microsoft.com/office/powerpoint/2010/main" val="14055452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304A5-C005-41B9-B3D6-C5C7AF8D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4D9A1-7D4A-416D-86A3-C649B8F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AAC60-2F23-4205-9FB9-0386A37E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RAG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95D3E-3FCA-440B-896E-55776FA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RAG 的作用是给模型证据，而不是让模型自由发挥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ADD4B-8DBE-4BCC-8FCB-4E91804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没有 embedding 时仍有关键词兜底，避免系统在第一版数据期完全失效。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2CE78-75C1-45DA-BF16-AA319E87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8EAD9-DF5F-404B-B9E3-62A8215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56EAF-E22E-4369-88B1-8F19201C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题目 / 知识点 / 学生上下文</a:t>
            </a:r>
          </a:p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输入查询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A06D-39BE-453B-9FF9-92EA38A0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9CF33-762A-431E-8E9F-97F0164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91E8B-0B48-4F03-9162-A113CAAA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99518-5A43-45DC-B259-56626D61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57450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t_ai_knowledge_base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优先取知识库 chunk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D09D6-A277-4C3F-9CFC-707EC57D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43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14ADF-FE1F-4243-91A0-D123CC7F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DDABF-D942-430F-9C6A-01C834F6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DEEC3-1059-4AC7-9955-63C5AFE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旧资料 embedding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兼容旧 t_text_content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41F54-FBBE-4847-88C9-4933AC1E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43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E0AD0-2BD6-4A66-887B-E5E1A6F4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DC5A7-C5ED-4559-BCFF-3BEAD41D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6AFDF-A5C7-4DC9-8E97-4A271A4B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关键词兜底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无向量时仍可命中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40E6B-D00D-42AA-9F3A-04981131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432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FAEC2-B31D-4F0F-BC19-CB860A4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765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BC0AE-2DC4-4E60-ACED-4D87B63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DAD56-D1DF-47A5-8FF6-5B20C2C1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Prompt 注入 reference_docs</a:t>
            </a:r>
          </a:p>
          <a:p xmlns:a="http://schemas.openxmlformats.org/drawingml/2006/main">
            <a:pPr algn="ctr">
              <a:defRPr sz="11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回答必须围绕证据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A8203-7FE3-4965-BB04-ED887FD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948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管理端新增 /api/admin/ai-agent/rag/debug，可直接检查关键词命中的知识材料。</a:t>
            </a:r>
          </a:p>
        </p:txBody>
      </p:sp>
    </p:spTree>
    <p:extLst>
      <p:ext uri="{BB962C8B-B14F-4D97-AF65-F5344CB8AC3E}">
        <p14:creationId xmlns:p14="http://schemas.microsoft.com/office/powerpoint/2010/main" val="988283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0DEE1-AB94-4CC8-8B10-AD865B00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11F77-A920-4151-9191-42CF2BF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D408B-C394-4ECC-8EE2-B55E60C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SKILL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FD575-DE43-4C45-A8FA-1EBDABE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四种解析视角不是换语气，而是换认知路径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0AE5C-9596-4BEA-8A0B-B62E174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同一份 RAG 证据，被组织成不同学习策略。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8C685-E1C6-423B-B60E-D84508F2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46487-7696-4F32-819B-E4B0B90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343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CD01F-2F95-4162-BF39-521D0B7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343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C3B72-D324-438F-8AA3-D26568E5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常规无修饰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ED01A-4789-41AE-81F1-EE8580B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标准解析、答案依据、易错点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3EF43-CE88-40AC-B295-DAB210B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适合快速订正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3E60C-6C99-41D0-9BEE-2D9937E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343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6EDBB-4B2D-476C-83E8-DF765664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343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C57C4-3FDF-4EA9-BD7B-905AFA0D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费曼学习法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F1F91-8779-4B29-995C-65CE4DE7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讲给新手听，用类比和检查问题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AA83-D85B-4653-AF16-29316D5E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适合基础薄弱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309C0-B1E5-4534-8A93-C45A3320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343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CA40A-4CAD-4418-8D2B-64748C0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343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6BE17-9ECF-4B2F-BC14-B263AB5D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第一性原理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1592B-9A8F-4B5B-9201-2A20ACD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回到定义、约束和推导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7ADD5-D563-4095-9821-104715A6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适合反套路理解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203C1-859E-4000-BF5D-B5741E1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343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36406-9A65-4838-BF0D-318DFC0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343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2213B-9173-446B-A2A0-AD66925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柏拉图式对话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8C658-B065-4ACD-9996-AB001D3F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用追问让学生自己发现关键条件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28CC6-C2EB-44B3-9D20-29502E1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052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适合训练思考过程</a:t>
            </a:r>
          </a:p>
        </p:txBody>
      </p:sp>
    </p:spTree>
    <p:extLst>
      <p:ext uri="{BB962C8B-B14F-4D97-AF65-F5344CB8AC3E}">
        <p14:creationId xmlns:p14="http://schemas.microsoft.com/office/powerpoint/2010/main" val="1438058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9F2A0-D1E7-4056-B010-72F6E66F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2089D-02D7-4EBB-8D90-26EDF6B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56155-5378-4E91-9DC7-CBDE021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AGENT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13B6A-9EEA-48E5-8C9A-52F94985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Agent 让系统从一次性回答变成连续学习档案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E738C-D28B-4E10-B30C-42F3F4FC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usageLogId 把一次 AI 解析和后续反馈连接起来。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43DEF-39AB-4489-99F1-2B493CD7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5E7E0-6F08-40A7-9CDB-8B24060B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66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2969D-9904-44DC-996D-4B05526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/api/student/ai/analyze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生成解析 + 返回 usageLogId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4356F-E88A-410E-9086-2B78DFEB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D78DB-1802-43B9-A878-BEB9D54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9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806E0-288D-4A52-9F65-82D6615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0250"/>
            <a:ext cx="266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C8B67-2DFD-431C-8E22-AB6A584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764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t_user_learning_event</a:t>
            </a:r>
          </a:p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记录做题、解析、反馈事件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90360-7D7D-427D-958A-28243CB5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6DDF3-5BD8-4EFF-A544-1DC614E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9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01C3B-D1CB-45C4-ADB6-9CD94FB3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66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655EF-7656-4C6C-83B2-DC08194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t_user_learning_profile</a:t>
            </a:r>
          </a:p>
          <a:p xmlns:a="http://schemas.openxmlformats.org/drawingml/2006/main">
            <a:pPr algn="ctr">
              <a:def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沉淀薄弱点与偏好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C3F63-95AF-45DF-B067-C28FC33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266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91538-001C-4824-9BBA-64A2307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/api/student/ai/feedback</a:t>
            </a:r>
          </a:p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评分、意见、关联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795BF-254A-498B-BF8D-9E0CBE44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767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6AC03-54DC-4C90-921F-7680819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E36D1-1C88-49B4-AD13-1B9D3AD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BE649-1028-4C14-92E4-0E34EE1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下一次 Prompt</a:t>
            </a:r>
          </a:p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注入 student_profile + feedback_notes</a:t>
            </a:r>
          </a:p>
        </p:txBody>
      </p:sp>
    </p:spTree>
    <p:extLst>
      <p:ext uri="{BB962C8B-B14F-4D97-AF65-F5344CB8AC3E}">
        <p14:creationId xmlns:p14="http://schemas.microsoft.com/office/powerpoint/2010/main" val="4759570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4155E0-CEC7-41B3-AA77-AEF179F9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0ABDF-BAE1-4445-BB1D-4197E19D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2EC31-0F5B-428A-9EA5-BE66CC6A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DATA BACKBONE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181F9-61DF-4E2F-B1DD-A41B6EB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数据库改造选择“兼容增强”，避免扰动稳定主流程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29329-18D0-4D9C-9C1F-7744D4C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先保留原题库结构，再增加 AI 能力需要的字段和表。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1FC12-B845-41EC-BE3F-81EC1EF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D56EE-C793-445E-9901-7CF90DE3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367ED-DF55-4348-97C6-01DEB04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t_ai_knowledge_base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8EAE8-C6FA-4BCF-90B3-EFDE5F0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954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embedding / model / dimension / chunk_index / content_hash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528AD-63E3-49D3-BCCB-7160B7AE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954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让知识库具备语义检索和增量更新基础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4E51F-3B24-43D7-9E96-5123A33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87664-0F08-4051-99EE-0B205172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t_user_learning_profile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729D3-E1E8-4E8C-BB9B-F3DD7A5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学生摘要、薄弱点、偏好风格、最近活动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37E6D-59A5-4D8D-9CCB-AC562F5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让 Agent 有长期记忆载体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D375E-A95C-43B3-9374-4A5BA87D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0F8EC-CD35-4BD5-A0ED-ABE4B0A2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t_user_learning_event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212F7-F552-4AD5-A2B8-AE610C0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事件类型、题目、知识点、payload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92999-595D-4212-A63D-C432A43E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把真实学习过程结构化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B9073-376B-44B2-8075-3EA89FCE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D279A-8ACD-4639-A0B1-77DF5FA2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t_user_skill_feedback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2BC6B-989E-4B5E-8AAF-72A4AC90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386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style、rating、feedback、usageLogId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442C6-B88F-474A-ADCB-05D0040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86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让反馈能修正后续 Skill 表现</a:t>
            </a:r>
          </a:p>
        </p:txBody>
      </p:sp>
    </p:spTree>
    <p:extLst>
      <p:ext uri="{BB962C8B-B14F-4D97-AF65-F5344CB8AC3E}">
        <p14:creationId xmlns:p14="http://schemas.microsoft.com/office/powerpoint/2010/main" val="9153203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17891-9CB3-405E-97C1-8A886E7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FACCC-5F23-4385-9D51-4DCEED9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7BEC1-53D8-4477-AD93-2D318AAB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DATA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DF274-D802-4B5E-B133-8E45BC39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图片和知识图谱修复让 AI 的“证据”更完整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06289-4907-4DBE-9DE9-E08A0733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知识库质量不仅是文字数量，也包括真题图片和真实知识关系。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8A849-24EB-4E23-AE71-55B052BB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DD7CE-505F-4C2F-ACDA-8BBB3283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621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A580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580C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EEC38-089A-4859-B874-096C310A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静态图片文件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67DB0-7D95-4B14-9880-498215D7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621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0AFD9-907E-4338-ADB3-B36F251C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t_question 图片行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DC434-FECE-4885-B4C6-4B41477D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133DA-DF05-4119-8C53-44F63A9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t_essay_question 图片行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57FD8-562A-431A-9604-A98C7F5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F2DD7-B8B5-41A1-94B7-A91C7028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典型图片 URL 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52F79-0A08-424D-9450-B631447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crawler/sync_image_paths.py 用来审计并同步图片路径，静态资源放入 source/xzs/src/main/resources/static/images。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B76E4-B892-4099-ABA2-4D52557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学生端知识图谱已经切换到真实 /api/student/knowledge-graph/graph 数据，不再使用 mock 图。验证返回 120 个节点、228 条边、4 个分类。</a:t>
            </a:r>
          </a:p>
        </p:txBody>
      </p:sp>
    </p:spTree>
    <p:extLst>
      <p:ext uri="{BB962C8B-B14F-4D97-AF65-F5344CB8AC3E}">
        <p14:creationId xmlns:p14="http://schemas.microsoft.com/office/powerpoint/2010/main" val="19147857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732CC-B2D9-4056-B904-E79E274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48504-C392-46FF-8C35-7658F81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F65EB-06F5-42DA-99B2-6196B9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EAEA3-8B09-4CB8-A847-82AFC6F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已经验证的不是“能跑”，而是关键闭环都能返回真实数据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7210C-734E-482C-BB71-F4AC0ED6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构建、接口、RAG、反馈、图片访问均已跑通。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420D9-7241-41A6-BA3A-94B6BBDA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EC4B3-D673-4140-BAC3-70BE5CC4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049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AC6B-8E53-45C8-9089-74994E3B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049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A9602-FBCA-4BCF-AF01-9CF1111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后端构建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4B731-BB06-4593-8A27-1FC9DA7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38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mvn package -DskipTests 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6AF70-07D4-4F93-97A2-0995F7A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049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F3B17-52E4-432B-999C-FB13CCBE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049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4492F-4549-4840-A2CF-AAA7F93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38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学生端构建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8DFA9-4053-4438-A8D7-8EFE5474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npm run build 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BA5AF-2A24-4514-BD8E-0D5AD28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90875-8A0A-4313-9676-333C4D24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F7BD0-A2DD-4A02-8190-E368B95A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Skill 列表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51FDE-5830-4F65-9838-CCB68F5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default / feynman / first-principles / plato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2C077-E894-4357-AA49-323CC872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7459D-312D-44F5-9503-42D9D30E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1BD17-A46B-4CA6-BC42-4920F42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知识图谱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69AF0-ACA0-4484-881C-FD8E5935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120 nodes / 228 links / 4 categories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5F422-2031-4093-8199-5E7A1ED0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A7712-DB85-46D9-ADCD-28FD4784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AAEDB-5E99-44FA-A723-45DBA19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RAG Debug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3D6DB-1036-43D1-B88B-2563C98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14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虚拟存储器可命中相关知识文档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EA39A-0F0B-4C2F-ACBF-234C811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5F2F8-A0F8-4616-9BE0-AE43114C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2D87D-AF10-47C3-AB53-A1E4210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反馈接口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D02C5-BF17-4A8C-A6E4-6C15D03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rating + feedback 写入学习档案链路</a:t>
            </a:r>
          </a:p>
        </p:txBody>
      </p:sp>
    </p:spTree>
    <p:extLst>
      <p:ext uri="{BB962C8B-B14F-4D97-AF65-F5344CB8AC3E}">
        <p14:creationId xmlns:p14="http://schemas.microsoft.com/office/powerpoint/2010/main" val="4430378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B4627-8A13-4E92-8FEB-A2A9B96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58444-CC02-4C71-9EC3-9F04A3C8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6E661-298F-4A30-B296-49528A0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37909-60FB-4D9E-AED3-710977B7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下一步重点：让知识库质量驱动 AI 能力，而不是反过来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0CC27-EC1E-4DBF-8242-D0554F0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最值得投入的是知识库、向量流程、真实学习事件和可解释画像。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E9BDD-9953-4374-A4FA-BB73FD30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1B8ED-92DD-4FE6-8E5F-8D3F8468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28750"/>
            <a:ext cx="9753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DD761-BEB7-44EF-9586-819D71C2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0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2F5BE-D7FE-4181-9C7F-DE181CDA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478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FBC08-6AFA-46D9-85CE-5CA5D180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62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自动 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F6688-3436-4DA6-AD5A-E2A82B16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批量生成、增量更新、失败重试、模型版本管理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A8B23-5802-4BB7-BA7F-A7DE7F27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9753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822FB-EE5F-4E99-AA62-AAE4017F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9308B-E1BF-41FF-8883-8E44C7F0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384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3EC99-9BE7-40A5-9F9E-4994D1D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52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知识点映射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6D2DB-710D-4F17-86E9-769856A3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题目到知识点、综合题图片、解析材料继续补齐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E90C1-078F-4977-87D1-DB26797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753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F0DD4-1D8D-40D4-B224-6C5FCE41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EC639-C492-4BFA-BA44-EBE5B6DF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603F0-AB0E-4608-814A-BC1D8D48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43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画像可解释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0E0FC-39B6-4301-AF30-7305F7A3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让薄弱点、偏好和反馈如何影响 Prompt 可追踪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282B-62B7-4897-BF28-86B26F27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753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0B414-5938-49BA-8A34-7CA7C61D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2C387-4789-4D55-99E1-FA7F5CE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96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1B913-C385-4616-B592-BBE6562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管理端看板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39481-4656-443C-A52A-7B4D1A5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无向量 chunk、缺图题目、低命中知识点、数据源健康度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AD0DC-5CF5-4572-982F-1FDA9A0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结论：RAG、Skill、Agent 已经形成底座；后续每补一块高质量知识，都会被检索、讲解和画像三层复用。</a:t>
            </a:r>
          </a:p>
        </p:txBody>
      </p:sp>
    </p:spTree>
    <p:extLst>
      <p:ext uri="{BB962C8B-B14F-4D97-AF65-F5344CB8AC3E}">
        <p14:creationId xmlns:p14="http://schemas.microsoft.com/office/powerpoint/2010/main" val="1508034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2026-05-16T15:53:47.4380000Z</dcterms:created>
  <dcterms:modified xsi:type="dcterms:W3CDTF">2026-05-16T15:53:47.4380000Z</dcterms:modified>
</coreProperties>
</file>